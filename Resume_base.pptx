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10692000" cx="7560000"/>
  <p:notesSz cx="6858000" cy="9144000"/>
  <p:embeddedFontLst>
    <p:embeddedFont>
      <p:font typeface="Poppins"/>
      <p:regular r:id="rId7"/>
      <p:bold r:id="rId8"/>
      <p:italic r:id="rId9"/>
      <p:boldItalic r:id="rId10"/>
    </p:embeddedFont>
    <p:embeddedFont>
      <p:font typeface="Poppins Light"/>
      <p:regular r:id="rId11"/>
      <p:bold r:id="rId12"/>
      <p:italic r:id="rId13"/>
      <p:boldItalic r:id="rId14"/>
    </p:embeddedFont>
    <p:embeddedFont>
      <p:font typeface="Poppins Medium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40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405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oppinsLight-regular.fntdata"/><Relationship Id="rId10" Type="http://schemas.openxmlformats.org/officeDocument/2006/relationships/font" Target="fonts/Poppins-boldItalic.fntdata"/><Relationship Id="rId13" Type="http://schemas.openxmlformats.org/officeDocument/2006/relationships/font" Target="fonts/PoppinsLight-italic.fntdata"/><Relationship Id="rId12" Type="http://schemas.openxmlformats.org/officeDocument/2006/relationships/font" Target="fonts/PoppinsLigh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oppins-italic.fntdata"/><Relationship Id="rId15" Type="http://schemas.openxmlformats.org/officeDocument/2006/relationships/font" Target="fonts/PoppinsMedium-regular.fntdata"/><Relationship Id="rId14" Type="http://schemas.openxmlformats.org/officeDocument/2006/relationships/font" Target="fonts/PoppinsLight-boldItalic.fntdata"/><Relationship Id="rId17" Type="http://schemas.openxmlformats.org/officeDocument/2006/relationships/font" Target="fonts/PoppinsMedium-italic.fntdata"/><Relationship Id="rId16" Type="http://schemas.openxmlformats.org/officeDocument/2006/relationships/font" Target="fonts/Poppins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PoppinsMedium-boldItalic.fntdata"/><Relationship Id="rId7" Type="http://schemas.openxmlformats.org/officeDocument/2006/relationships/font" Target="fonts/Poppins-regular.fntdata"/><Relationship Id="rId8" Type="http://schemas.openxmlformats.org/officeDocument/2006/relationships/font" Target="fonts/Poppi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57712" y="1547778"/>
            <a:ext cx="7044600" cy="42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57705" y="5891409"/>
            <a:ext cx="7044600" cy="16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57705" y="4471058"/>
            <a:ext cx="7044600" cy="174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57705" y="2395696"/>
            <a:ext cx="3306900" cy="7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995291" y="2395696"/>
            <a:ext cx="3306900" cy="7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57705" y="1154948"/>
            <a:ext cx="2321700" cy="157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57705" y="2888617"/>
            <a:ext cx="2321700" cy="6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05325" y="935745"/>
            <a:ext cx="5264700" cy="85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80000" y="-260"/>
            <a:ext cx="3780000" cy="106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19508" y="2563450"/>
            <a:ext cx="3344400" cy="308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19508" y="5826865"/>
            <a:ext cx="3344400" cy="25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083839" y="1505164"/>
            <a:ext cx="3172200" cy="76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57705" y="8794266"/>
            <a:ext cx="4959600" cy="12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57705" y="2299346"/>
            <a:ext cx="7044600" cy="408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57705" y="6552657"/>
            <a:ext cx="7044600" cy="27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348455" y="400618"/>
            <a:ext cx="3463800" cy="596375"/>
            <a:chOff x="348455" y="400618"/>
            <a:chExt cx="3463800" cy="596375"/>
          </a:xfrm>
        </p:grpSpPr>
        <p:sp>
          <p:nvSpPr>
            <p:cNvPr id="55" name="Google Shape;55;p13"/>
            <p:cNvSpPr txBox="1"/>
            <p:nvPr/>
          </p:nvSpPr>
          <p:spPr>
            <a:xfrm>
              <a:off x="348455" y="400618"/>
              <a:ext cx="34638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2300">
                  <a:solidFill>
                    <a:srgbClr val="394349"/>
                  </a:solidFill>
                  <a:latin typeface="Poppins"/>
                  <a:ea typeface="Poppins"/>
                  <a:cs typeface="Poppins"/>
                  <a:sym typeface="Poppins"/>
                </a:rPr>
                <a:t>Adam Zailani</a:t>
              </a:r>
              <a:endParaRPr b="1" sz="2300">
                <a:solidFill>
                  <a:srgbClr val="39434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6" name="Google Shape;56;p13"/>
            <p:cNvSpPr txBox="1"/>
            <p:nvPr/>
          </p:nvSpPr>
          <p:spPr>
            <a:xfrm>
              <a:off x="348455" y="827793"/>
              <a:ext cx="3463800" cy="16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100">
                  <a:solidFill>
                    <a:srgbClr val="7798A7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Software AI Engineer</a:t>
              </a:r>
              <a:endParaRPr sz="1100">
                <a:solidFill>
                  <a:srgbClr val="7798A7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grpSp>
        <p:nvGrpSpPr>
          <p:cNvPr id="57" name="Google Shape;57;p13"/>
          <p:cNvGrpSpPr/>
          <p:nvPr/>
        </p:nvGrpSpPr>
        <p:grpSpPr>
          <a:xfrm>
            <a:off x="357290" y="1322900"/>
            <a:ext cx="4329178" cy="1308186"/>
            <a:chOff x="351365" y="2014375"/>
            <a:chExt cx="4329178" cy="1308186"/>
          </a:xfrm>
        </p:grpSpPr>
        <p:grpSp>
          <p:nvGrpSpPr>
            <p:cNvPr id="58" name="Google Shape;58;p13"/>
            <p:cNvGrpSpPr/>
            <p:nvPr/>
          </p:nvGrpSpPr>
          <p:grpSpPr>
            <a:xfrm>
              <a:off x="351365" y="2014375"/>
              <a:ext cx="4329160" cy="279850"/>
              <a:chOff x="351365" y="2014375"/>
              <a:chExt cx="4329160" cy="279850"/>
            </a:xfrm>
          </p:grpSpPr>
          <p:sp>
            <p:nvSpPr>
              <p:cNvPr id="59" name="Google Shape;59;p13"/>
              <p:cNvSpPr txBox="1"/>
              <p:nvPr/>
            </p:nvSpPr>
            <p:spPr>
              <a:xfrm>
                <a:off x="351365" y="2014375"/>
                <a:ext cx="1730100" cy="2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uk" sz="1300">
                    <a:solidFill>
                      <a:srgbClr val="394349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SUMMARY</a:t>
                </a:r>
                <a:endParaRPr sz="1300">
                  <a:solidFill>
                    <a:srgbClr val="394349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</p:txBody>
          </p:sp>
          <p:cxnSp>
            <p:nvCxnSpPr>
              <p:cNvPr id="60" name="Google Shape;60;p13"/>
              <p:cNvCxnSpPr/>
              <p:nvPr/>
            </p:nvCxnSpPr>
            <p:spPr>
              <a:xfrm>
                <a:off x="357225" y="2294225"/>
                <a:ext cx="43233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7798A7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61" name="Google Shape;61;p13"/>
            <p:cNvSpPr txBox="1"/>
            <p:nvPr/>
          </p:nvSpPr>
          <p:spPr>
            <a:xfrm>
              <a:off x="357243" y="2399161"/>
              <a:ext cx="43233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just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uk" sz="800">
                  <a:solidFill>
                    <a:srgbClr val="394349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A young tech enthusiast on a mission to make an impact wherever I go. With a knack for problem-solving and a passion for innovation, I bring a fresh perspective and a hunger for learning to every project I tackle. From coding complex algorithms to diving into the latest advancements in AI, I thrive on challenges and love turning ideas into reality.</a:t>
              </a:r>
              <a:endParaRPr sz="800">
                <a:solidFill>
                  <a:srgbClr val="394349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  <a:p>
              <a:pPr indent="0" lvl="0" marL="0" rtl="0" algn="just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rgbClr val="394349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sp>
        <p:nvSpPr>
          <p:cNvPr id="62" name="Google Shape;62;p13"/>
          <p:cNvSpPr/>
          <p:nvPr/>
        </p:nvSpPr>
        <p:spPr>
          <a:xfrm>
            <a:off x="5040000" y="125"/>
            <a:ext cx="2520000" cy="10692000"/>
          </a:xfrm>
          <a:prstGeom prst="rect">
            <a:avLst/>
          </a:prstGeom>
          <a:solidFill>
            <a:srgbClr val="7798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3" title="Gemini_Generated_Image_n590cun590cun590.png"/>
          <p:cNvPicPr preferRelativeResize="0"/>
          <p:nvPr/>
        </p:nvPicPr>
        <p:blipFill rotWithShape="1">
          <a:blip r:embed="rId3">
            <a:alphaModFix/>
          </a:blip>
          <a:srcRect b="35112" l="10399" r="10399" t="5193"/>
          <a:stretch/>
        </p:blipFill>
        <p:spPr>
          <a:xfrm>
            <a:off x="5446210" y="215550"/>
            <a:ext cx="1695600" cy="1700100"/>
          </a:xfrm>
          <a:prstGeom prst="roundRect">
            <a:avLst>
              <a:gd fmla="val 5151" name="adj"/>
            </a:avLst>
          </a:prstGeom>
          <a:noFill/>
          <a:ln>
            <a:noFill/>
          </a:ln>
        </p:spPr>
      </p:pic>
      <p:grpSp>
        <p:nvGrpSpPr>
          <p:cNvPr id="64" name="Google Shape;64;p13"/>
          <p:cNvGrpSpPr/>
          <p:nvPr/>
        </p:nvGrpSpPr>
        <p:grpSpPr>
          <a:xfrm>
            <a:off x="5361128" y="2119575"/>
            <a:ext cx="2199797" cy="1698324"/>
            <a:chOff x="5361128" y="2120250"/>
            <a:chExt cx="2199797" cy="1698324"/>
          </a:xfrm>
        </p:grpSpPr>
        <p:sp>
          <p:nvSpPr>
            <p:cNvPr id="65" name="Google Shape;65;p13"/>
            <p:cNvSpPr txBox="1"/>
            <p:nvPr/>
          </p:nvSpPr>
          <p:spPr>
            <a:xfrm>
              <a:off x="5400002" y="2120250"/>
              <a:ext cx="17301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3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EDUCATION</a:t>
              </a:r>
              <a:endParaRPr sz="13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cxnSp>
          <p:nvCxnSpPr>
            <p:cNvPr id="66" name="Google Shape;66;p13"/>
            <p:cNvCxnSpPr/>
            <p:nvPr/>
          </p:nvCxnSpPr>
          <p:spPr>
            <a:xfrm>
              <a:off x="5411725" y="2524350"/>
              <a:ext cx="2149200" cy="6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7" name="Google Shape;67;p13"/>
            <p:cNvGrpSpPr/>
            <p:nvPr/>
          </p:nvGrpSpPr>
          <p:grpSpPr>
            <a:xfrm>
              <a:off x="5361128" y="2737636"/>
              <a:ext cx="1977000" cy="1080938"/>
              <a:chOff x="5361128" y="2737636"/>
              <a:chExt cx="1977000" cy="1080938"/>
            </a:xfrm>
          </p:grpSpPr>
          <p:sp>
            <p:nvSpPr>
              <p:cNvPr id="68" name="Google Shape;68;p13"/>
              <p:cNvSpPr txBox="1"/>
              <p:nvPr/>
            </p:nvSpPr>
            <p:spPr>
              <a:xfrm>
                <a:off x="5361128" y="2737636"/>
                <a:ext cx="1977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uk" sz="900" u="sng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Bachelor of Computer Science (Hons.)</a:t>
                </a:r>
                <a:endParaRPr sz="900" u="sng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</p:txBody>
          </p:sp>
          <p:sp>
            <p:nvSpPr>
              <p:cNvPr id="69" name="Google Shape;69;p13"/>
              <p:cNvSpPr txBox="1"/>
              <p:nvPr/>
            </p:nvSpPr>
            <p:spPr>
              <a:xfrm>
                <a:off x="5361128" y="3091593"/>
                <a:ext cx="1977000" cy="13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uk" sz="900">
                    <a:solidFill>
                      <a:schemeClr val="lt1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Universiti Teknologi Mara, Jasin</a:t>
                </a:r>
                <a:endParaRPr i="1" sz="900">
                  <a:solidFill>
                    <a:schemeClr val="lt1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</p:txBody>
          </p:sp>
          <p:sp>
            <p:nvSpPr>
              <p:cNvPr id="70" name="Google Shape;70;p13"/>
              <p:cNvSpPr txBox="1"/>
              <p:nvPr/>
            </p:nvSpPr>
            <p:spPr>
              <a:xfrm>
                <a:off x="5361128" y="3319974"/>
                <a:ext cx="1977000" cy="49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uk" sz="900">
                    <a:solidFill>
                      <a:schemeClr val="lt1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10/2020 - 06/2023</a:t>
                </a:r>
                <a:endParaRPr sz="900">
                  <a:solidFill>
                    <a:schemeClr val="lt1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  <a:p>
                <a:pPr indent="0" lvl="0" marL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uk" sz="900">
                    <a:solidFill>
                      <a:schemeClr val="lt1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3.78 CGPA</a:t>
                </a:r>
                <a:endParaRPr sz="900">
                  <a:solidFill>
                    <a:schemeClr val="lt1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  <a:p>
                <a:pPr indent="0" lvl="0" marL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uk" sz="900">
                    <a:solidFill>
                      <a:schemeClr val="lt1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Vice Chancellor Award Receiver</a:t>
                </a:r>
                <a:endParaRPr sz="900">
                  <a:solidFill>
                    <a:schemeClr val="lt1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</p:txBody>
          </p:sp>
        </p:grpSp>
      </p:grpSp>
      <p:grpSp>
        <p:nvGrpSpPr>
          <p:cNvPr id="71" name="Google Shape;71;p13"/>
          <p:cNvGrpSpPr/>
          <p:nvPr/>
        </p:nvGrpSpPr>
        <p:grpSpPr>
          <a:xfrm>
            <a:off x="5317290" y="4123244"/>
            <a:ext cx="2249497" cy="2695305"/>
            <a:chOff x="5317290" y="1433275"/>
            <a:chExt cx="2249497" cy="2695305"/>
          </a:xfrm>
        </p:grpSpPr>
        <p:sp>
          <p:nvSpPr>
            <p:cNvPr id="72" name="Google Shape;72;p13"/>
            <p:cNvSpPr txBox="1"/>
            <p:nvPr/>
          </p:nvSpPr>
          <p:spPr>
            <a:xfrm>
              <a:off x="5405865" y="1433275"/>
              <a:ext cx="17301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3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SKILLS</a:t>
              </a:r>
              <a:endParaRPr sz="13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cxnSp>
          <p:nvCxnSpPr>
            <p:cNvPr id="73" name="Google Shape;73;p13"/>
            <p:cNvCxnSpPr/>
            <p:nvPr/>
          </p:nvCxnSpPr>
          <p:spPr>
            <a:xfrm>
              <a:off x="5417588" y="1837375"/>
              <a:ext cx="2149200" cy="6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4" name="Google Shape;74;p13"/>
            <p:cNvGrpSpPr/>
            <p:nvPr/>
          </p:nvGrpSpPr>
          <p:grpSpPr>
            <a:xfrm>
              <a:off x="5402553" y="1965913"/>
              <a:ext cx="1982863" cy="686587"/>
              <a:chOff x="5402553" y="1965913"/>
              <a:chExt cx="1982863" cy="686587"/>
            </a:xfrm>
          </p:grpSpPr>
          <p:sp>
            <p:nvSpPr>
              <p:cNvPr id="75" name="Google Shape;75;p13"/>
              <p:cNvSpPr txBox="1"/>
              <p:nvPr/>
            </p:nvSpPr>
            <p:spPr>
              <a:xfrm>
                <a:off x="5402553" y="1965913"/>
                <a:ext cx="1977000" cy="13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uk" sz="900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Tools:</a:t>
                </a:r>
                <a:endParaRPr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</p:txBody>
          </p:sp>
          <p:sp>
            <p:nvSpPr>
              <p:cNvPr id="76" name="Google Shape;76;p13"/>
              <p:cNvSpPr txBox="1"/>
              <p:nvPr/>
            </p:nvSpPr>
            <p:spPr>
              <a:xfrm>
                <a:off x="5408415" y="2153900"/>
                <a:ext cx="1977000" cy="49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uk" sz="900">
                    <a:solidFill>
                      <a:schemeClr val="lt1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• </a:t>
                </a:r>
                <a:r>
                  <a:rPr lang="uk" sz="900">
                    <a:solidFill>
                      <a:schemeClr val="lt1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Java • C++ </a:t>
                </a:r>
                <a:r>
                  <a:rPr lang="uk" sz="900">
                    <a:solidFill>
                      <a:schemeClr val="lt1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• </a:t>
                </a:r>
                <a:r>
                  <a:rPr lang="uk" sz="900">
                    <a:solidFill>
                      <a:schemeClr val="lt1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Python • OpenCode </a:t>
                </a:r>
                <a:r>
                  <a:rPr lang="uk" sz="900">
                    <a:solidFill>
                      <a:schemeClr val="lt1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• </a:t>
                </a:r>
                <a:r>
                  <a:rPr lang="uk" sz="900">
                    <a:solidFill>
                      <a:schemeClr val="lt1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 LM Studio </a:t>
                </a:r>
                <a:r>
                  <a:rPr lang="uk" sz="900">
                    <a:solidFill>
                      <a:schemeClr val="lt1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•  </a:t>
                </a:r>
                <a:r>
                  <a:rPr lang="uk" sz="900">
                    <a:solidFill>
                      <a:schemeClr val="lt1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LATE </a:t>
                </a:r>
                <a:r>
                  <a:rPr lang="uk" sz="900">
                    <a:solidFill>
                      <a:schemeClr val="lt1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• openClaw </a:t>
                </a:r>
                <a:endParaRPr sz="900">
                  <a:solidFill>
                    <a:schemeClr val="lt1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  <a:p>
                <a:pPr indent="0" lvl="0" marL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uk" sz="900">
                    <a:solidFill>
                      <a:schemeClr val="lt1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•  Docker •  ComfyUI • </a:t>
                </a:r>
                <a:endParaRPr sz="900">
                  <a:solidFill>
                    <a:schemeClr val="lt1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</p:txBody>
          </p:sp>
        </p:grpSp>
        <p:grpSp>
          <p:nvGrpSpPr>
            <p:cNvPr id="77" name="Google Shape;77;p13"/>
            <p:cNvGrpSpPr/>
            <p:nvPr/>
          </p:nvGrpSpPr>
          <p:grpSpPr>
            <a:xfrm>
              <a:off x="5317290" y="3775611"/>
              <a:ext cx="2064650" cy="352969"/>
              <a:chOff x="5317290" y="3775611"/>
              <a:chExt cx="2064650" cy="352969"/>
            </a:xfrm>
          </p:grpSpPr>
          <p:sp>
            <p:nvSpPr>
              <p:cNvPr id="78" name="Google Shape;78;p13"/>
              <p:cNvSpPr txBox="1"/>
              <p:nvPr/>
            </p:nvSpPr>
            <p:spPr>
              <a:xfrm>
                <a:off x="5317290" y="3775611"/>
                <a:ext cx="1977000" cy="13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uk" sz="900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Operating Systems:</a:t>
                </a:r>
                <a:endParaRPr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</p:txBody>
          </p:sp>
          <p:sp>
            <p:nvSpPr>
              <p:cNvPr id="79" name="Google Shape;79;p13"/>
              <p:cNvSpPr txBox="1"/>
              <p:nvPr/>
            </p:nvSpPr>
            <p:spPr>
              <a:xfrm>
                <a:off x="5404940" y="3989980"/>
                <a:ext cx="1977000" cy="13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uk" sz="900">
                    <a:solidFill>
                      <a:schemeClr val="lt1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• </a:t>
                </a:r>
                <a:r>
                  <a:rPr lang="uk" sz="900">
                    <a:solidFill>
                      <a:schemeClr val="lt1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Linux • Windows • MacOS</a:t>
                </a:r>
                <a:endParaRPr sz="900">
                  <a:solidFill>
                    <a:schemeClr val="lt1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</p:txBody>
          </p:sp>
        </p:grpSp>
      </p:grpSp>
      <p:grpSp>
        <p:nvGrpSpPr>
          <p:cNvPr id="80" name="Google Shape;80;p13"/>
          <p:cNvGrpSpPr/>
          <p:nvPr/>
        </p:nvGrpSpPr>
        <p:grpSpPr>
          <a:xfrm>
            <a:off x="5362727" y="7079506"/>
            <a:ext cx="2160923" cy="404700"/>
            <a:chOff x="5400002" y="7131356"/>
            <a:chExt cx="2160923" cy="404700"/>
          </a:xfrm>
        </p:grpSpPr>
        <p:sp>
          <p:nvSpPr>
            <p:cNvPr id="81" name="Google Shape;81;p13"/>
            <p:cNvSpPr txBox="1"/>
            <p:nvPr/>
          </p:nvSpPr>
          <p:spPr>
            <a:xfrm>
              <a:off x="5400002" y="7131356"/>
              <a:ext cx="17301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3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Interests</a:t>
              </a:r>
              <a:endParaRPr sz="13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cxnSp>
          <p:nvCxnSpPr>
            <p:cNvPr id="82" name="Google Shape;82;p13"/>
            <p:cNvCxnSpPr/>
            <p:nvPr/>
          </p:nvCxnSpPr>
          <p:spPr>
            <a:xfrm>
              <a:off x="5411725" y="7535456"/>
              <a:ext cx="2149200" cy="6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3" name="Google Shape;83;p13"/>
          <p:cNvSpPr txBox="1"/>
          <p:nvPr/>
        </p:nvSpPr>
        <p:spPr>
          <a:xfrm>
            <a:off x="354387" y="1090650"/>
            <a:ext cx="4335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800">
                <a:solidFill>
                  <a:srgbClr val="394349"/>
                </a:solidFill>
                <a:latin typeface="Poppins Light"/>
                <a:ea typeface="Poppins Light"/>
                <a:cs typeface="Poppins Light"/>
                <a:sym typeface="Poppins Light"/>
              </a:rPr>
              <a:t>+6018-310-9742  </a:t>
            </a:r>
            <a:r>
              <a:rPr lang="uk" sz="900">
                <a:solidFill>
                  <a:srgbClr val="394349"/>
                </a:solidFill>
                <a:latin typeface="Poppins Light"/>
                <a:ea typeface="Poppins Light"/>
                <a:cs typeface="Poppins Light"/>
                <a:sym typeface="Poppins Light"/>
              </a:rPr>
              <a:t>|</a:t>
            </a:r>
            <a:r>
              <a:rPr lang="uk" sz="800">
                <a:solidFill>
                  <a:srgbClr val="394349"/>
                </a:solidFill>
                <a:latin typeface="Poppins Light"/>
                <a:ea typeface="Poppins Light"/>
                <a:cs typeface="Poppins Light"/>
                <a:sym typeface="Poppins Light"/>
              </a:rPr>
              <a:t>  adamzikrizailani@protonmail.com  </a:t>
            </a:r>
            <a:r>
              <a:rPr lang="uk" sz="900">
                <a:solidFill>
                  <a:srgbClr val="394349"/>
                </a:solidFill>
                <a:latin typeface="Poppins Light"/>
                <a:ea typeface="Poppins Light"/>
                <a:cs typeface="Poppins Light"/>
                <a:sym typeface="Poppins Light"/>
              </a:rPr>
              <a:t>|  </a:t>
            </a:r>
            <a:r>
              <a:rPr lang="uk" sz="800">
                <a:solidFill>
                  <a:srgbClr val="394349"/>
                </a:solidFill>
                <a:latin typeface="Poppins Light"/>
                <a:ea typeface="Poppins Light"/>
                <a:cs typeface="Poppins Light"/>
                <a:sym typeface="Poppins Light"/>
              </a:rPr>
              <a:t>Bangi, Malaysia</a:t>
            </a:r>
            <a:endParaRPr sz="800">
              <a:solidFill>
                <a:srgbClr val="394349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grpSp>
        <p:nvGrpSpPr>
          <p:cNvPr id="84" name="Google Shape;84;p13"/>
          <p:cNvGrpSpPr/>
          <p:nvPr/>
        </p:nvGrpSpPr>
        <p:grpSpPr>
          <a:xfrm>
            <a:off x="352900" y="5176070"/>
            <a:ext cx="2544900" cy="321375"/>
            <a:chOff x="354375" y="3371133"/>
            <a:chExt cx="2544900" cy="321375"/>
          </a:xfrm>
        </p:grpSpPr>
        <p:sp>
          <p:nvSpPr>
            <p:cNvPr id="85" name="Google Shape;85;p13"/>
            <p:cNvSpPr txBox="1"/>
            <p:nvPr/>
          </p:nvSpPr>
          <p:spPr>
            <a:xfrm>
              <a:off x="354375" y="3371133"/>
              <a:ext cx="2544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rgbClr val="7798A7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Associate AI Researcher</a:t>
              </a:r>
              <a:endParaRPr sz="900">
                <a:solidFill>
                  <a:srgbClr val="7798A7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86" name="Google Shape;86;p13"/>
            <p:cNvSpPr txBox="1"/>
            <p:nvPr/>
          </p:nvSpPr>
          <p:spPr>
            <a:xfrm>
              <a:off x="354375" y="3553908"/>
              <a:ext cx="2544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uk" sz="900">
                  <a:solidFill>
                    <a:srgbClr val="394349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MIMOS Berhad</a:t>
              </a:r>
              <a:endParaRPr i="1" sz="900">
                <a:solidFill>
                  <a:srgbClr val="394349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sp>
        <p:nvSpPr>
          <p:cNvPr id="87" name="Google Shape;87;p13"/>
          <p:cNvSpPr txBox="1"/>
          <p:nvPr/>
        </p:nvSpPr>
        <p:spPr>
          <a:xfrm>
            <a:off x="462213" y="5615725"/>
            <a:ext cx="41193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40800" lvl="0" marL="9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94349"/>
              </a:buClr>
              <a:buSzPts val="800"/>
              <a:buFont typeface="Poppins Light"/>
              <a:buChar char="●"/>
            </a:pPr>
            <a:r>
              <a:rPr b="1" lang="uk" sz="800">
                <a:solidFill>
                  <a:srgbClr val="394349"/>
                </a:solidFill>
                <a:latin typeface="Poppins"/>
                <a:ea typeface="Poppins"/>
                <a:cs typeface="Poppins"/>
                <a:sym typeface="Poppins"/>
              </a:rPr>
              <a:t>Engineered high-impact Computer Vision Proof of Concepts (PoCs), </a:t>
            </a:r>
            <a:r>
              <a:rPr lang="uk" sz="800">
                <a:solidFill>
                  <a:srgbClr val="394349"/>
                </a:solidFill>
                <a:latin typeface="Poppins Light"/>
                <a:ea typeface="Poppins Light"/>
                <a:cs typeface="Poppins Light"/>
                <a:sym typeface="Poppins Light"/>
              </a:rPr>
              <a:t>transitioning cutting-edge research into functional prototypes for industrial applications.</a:t>
            </a:r>
            <a:endParaRPr sz="800">
              <a:solidFill>
                <a:srgbClr val="394349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40800" lvl="0" marL="9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94349"/>
              </a:buClr>
              <a:buSzPts val="800"/>
              <a:buFont typeface="Poppins Light"/>
              <a:buChar char="●"/>
            </a:pPr>
            <a:r>
              <a:rPr b="1" lang="uk" sz="800">
                <a:solidFill>
                  <a:srgbClr val="394349"/>
                </a:solidFill>
                <a:latin typeface="Poppins"/>
                <a:ea typeface="Poppins"/>
                <a:cs typeface="Poppins"/>
                <a:sym typeface="Poppins"/>
              </a:rPr>
              <a:t>Developed robotic software systems </a:t>
            </a:r>
            <a:r>
              <a:rPr lang="uk" sz="800">
                <a:solidFill>
                  <a:srgbClr val="394349"/>
                </a:solidFill>
                <a:latin typeface="Poppins Light"/>
                <a:ea typeface="Poppins Light"/>
                <a:cs typeface="Poppins Light"/>
                <a:sym typeface="Poppins Light"/>
              </a:rPr>
              <a:t>within the</a:t>
            </a:r>
            <a:r>
              <a:rPr b="1" lang="uk" sz="800">
                <a:solidFill>
                  <a:srgbClr val="394349"/>
                </a:solidFill>
                <a:latin typeface="Poppins"/>
                <a:ea typeface="Poppins"/>
                <a:cs typeface="Poppins"/>
                <a:sym typeface="Poppins"/>
              </a:rPr>
              <a:t> ROS framework,</a:t>
            </a:r>
            <a:r>
              <a:rPr lang="uk" sz="800">
                <a:solidFill>
                  <a:srgbClr val="394349"/>
                </a:solidFill>
                <a:latin typeface="Poppins Light"/>
                <a:ea typeface="Poppins Light"/>
                <a:cs typeface="Poppins Light"/>
                <a:sym typeface="Poppins Light"/>
              </a:rPr>
              <a:t> utilizing a polyglot approach (C# and Python) to bridge hardware-software communication.</a:t>
            </a:r>
            <a:endParaRPr sz="800">
              <a:solidFill>
                <a:srgbClr val="394349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40800" lvl="0" marL="9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94349"/>
              </a:buClr>
              <a:buSzPts val="800"/>
              <a:buFont typeface="Poppins Light"/>
              <a:buChar char="●"/>
            </a:pPr>
            <a:r>
              <a:rPr b="1" lang="uk" sz="800">
                <a:solidFill>
                  <a:srgbClr val="394349"/>
                </a:solidFill>
                <a:latin typeface="Poppins"/>
                <a:ea typeface="Poppins"/>
                <a:cs typeface="Poppins"/>
                <a:sym typeface="Poppins"/>
              </a:rPr>
              <a:t>Architected a proprietary image generation pipeline</a:t>
            </a:r>
            <a:r>
              <a:rPr lang="uk" sz="800">
                <a:solidFill>
                  <a:srgbClr val="394349"/>
                </a:solidFill>
                <a:latin typeface="Poppins Light"/>
                <a:ea typeface="Poppins Light"/>
                <a:cs typeface="Poppins Light"/>
                <a:sym typeface="Poppins Light"/>
              </a:rPr>
              <a:t> by fine-tuning foundational models, optimizing the model for specific in-house use cases and data requirements.</a:t>
            </a:r>
            <a:endParaRPr sz="800">
              <a:solidFill>
                <a:srgbClr val="394349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40800" lvl="0" marL="9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94349"/>
              </a:buClr>
              <a:buSzPts val="800"/>
              <a:buFont typeface="Poppins Light"/>
              <a:buChar char="●"/>
            </a:pPr>
            <a:r>
              <a:rPr b="1" lang="uk" sz="800">
                <a:solidFill>
                  <a:srgbClr val="394349"/>
                </a:solidFill>
                <a:latin typeface="Poppins"/>
                <a:ea typeface="Poppins"/>
                <a:cs typeface="Poppins"/>
                <a:sym typeface="Poppins"/>
              </a:rPr>
              <a:t>Spearheaded on-premise LLM deployments </a:t>
            </a:r>
            <a:r>
              <a:rPr lang="uk" sz="800">
                <a:solidFill>
                  <a:srgbClr val="394349"/>
                </a:solidFill>
                <a:latin typeface="Poppins Light"/>
                <a:ea typeface="Poppins Light"/>
                <a:cs typeface="Poppins Light"/>
                <a:sym typeface="Poppins Light"/>
              </a:rPr>
              <a:t>using </a:t>
            </a:r>
            <a:r>
              <a:rPr b="1" lang="uk" sz="800">
                <a:solidFill>
                  <a:srgbClr val="394349"/>
                </a:solidFill>
                <a:latin typeface="Poppins"/>
                <a:ea typeface="Poppins"/>
                <a:cs typeface="Poppins"/>
                <a:sym typeface="Poppins"/>
              </a:rPr>
              <a:t>DeepSeek R1</a:t>
            </a:r>
            <a:r>
              <a:rPr lang="uk" sz="800">
                <a:solidFill>
                  <a:srgbClr val="394349"/>
                </a:solidFill>
                <a:latin typeface="Poppins Light"/>
                <a:ea typeface="Poppins Light"/>
                <a:cs typeface="Poppins Light"/>
                <a:sym typeface="Poppins Light"/>
              </a:rPr>
              <a:t>, ensuring 100% data sovereignty and security by hosting inference on internal hardware.</a:t>
            </a:r>
            <a:endParaRPr sz="800">
              <a:solidFill>
                <a:srgbClr val="394349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40800" lvl="0" marL="9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94349"/>
              </a:buClr>
              <a:buSzPts val="800"/>
              <a:buFont typeface="Poppins Light"/>
              <a:buChar char="●"/>
            </a:pPr>
            <a:r>
              <a:rPr b="1" lang="uk" sz="800">
                <a:solidFill>
                  <a:srgbClr val="394349"/>
                </a:solidFill>
                <a:latin typeface="Poppins"/>
                <a:ea typeface="Poppins"/>
                <a:cs typeface="Poppins"/>
                <a:sym typeface="Poppins"/>
              </a:rPr>
              <a:t>Managed technical partnerships </a:t>
            </a:r>
            <a:r>
              <a:rPr lang="uk" sz="800">
                <a:solidFill>
                  <a:srgbClr val="394349"/>
                </a:solidFill>
                <a:latin typeface="Poppins Light"/>
                <a:ea typeface="Poppins Light"/>
                <a:cs typeface="Poppins Light"/>
                <a:sym typeface="Poppins Light"/>
              </a:rPr>
              <a:t>with external engineering firms</a:t>
            </a:r>
            <a:r>
              <a:rPr b="1" lang="uk" sz="800">
                <a:solidFill>
                  <a:srgbClr val="39434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uk" sz="800">
                <a:solidFill>
                  <a:srgbClr val="394349"/>
                </a:solidFill>
                <a:latin typeface="Poppins Light"/>
                <a:ea typeface="Poppins Light"/>
                <a:cs typeface="Poppins Light"/>
                <a:sym typeface="Poppins Light"/>
              </a:rPr>
              <a:t>to ruggedize lab prototypes, facilitating the transition from fragile concepts to field-deployable units.</a:t>
            </a:r>
            <a:endParaRPr sz="800">
              <a:solidFill>
                <a:srgbClr val="394349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40800" lvl="0" marL="9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94349"/>
              </a:buClr>
              <a:buSzPts val="800"/>
              <a:buFont typeface="Poppins Light"/>
              <a:buChar char="●"/>
            </a:pPr>
            <a:r>
              <a:rPr b="1" lang="uk" sz="800">
                <a:solidFill>
                  <a:srgbClr val="394349"/>
                </a:solidFill>
                <a:latin typeface="Poppins"/>
                <a:ea typeface="Poppins"/>
                <a:cs typeface="Poppins"/>
                <a:sym typeface="Poppins"/>
              </a:rPr>
              <a:t>Closed the feedback loop </a:t>
            </a:r>
            <a:r>
              <a:rPr lang="uk" sz="800">
                <a:solidFill>
                  <a:srgbClr val="394349"/>
                </a:solidFill>
                <a:latin typeface="Poppins Light"/>
                <a:ea typeface="Poppins Light"/>
                <a:cs typeface="Poppins Light"/>
                <a:sym typeface="Poppins Light"/>
              </a:rPr>
              <a:t>between stakeholders and engineering teams,</a:t>
            </a:r>
            <a:r>
              <a:rPr b="1" lang="uk" sz="800">
                <a:solidFill>
                  <a:srgbClr val="39434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uk" sz="800">
                <a:solidFill>
                  <a:srgbClr val="394349"/>
                </a:solidFill>
                <a:latin typeface="Poppins Light"/>
                <a:ea typeface="Poppins Light"/>
                <a:cs typeface="Poppins Light"/>
                <a:sym typeface="Poppins Light"/>
              </a:rPr>
              <a:t>using field data to iteratively refine POCs for mass-scale adoption.</a:t>
            </a:r>
            <a:endParaRPr sz="800">
              <a:solidFill>
                <a:srgbClr val="394349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145975" y="5358846"/>
            <a:ext cx="2544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uk" sz="900">
                <a:solidFill>
                  <a:srgbClr val="394349"/>
                </a:solidFill>
                <a:latin typeface="Poppins Light"/>
                <a:ea typeface="Poppins Light"/>
                <a:cs typeface="Poppins Light"/>
                <a:sym typeface="Poppins Light"/>
              </a:rPr>
              <a:t>Kuala Lumpur</a:t>
            </a:r>
            <a:r>
              <a:rPr i="1" lang="uk" sz="900">
                <a:solidFill>
                  <a:srgbClr val="394349"/>
                </a:solidFill>
                <a:latin typeface="Poppins Light"/>
                <a:ea typeface="Poppins Light"/>
                <a:cs typeface="Poppins Light"/>
                <a:sym typeface="Poppins Light"/>
              </a:rPr>
              <a:t>, Malaysia | 09/2024 - 02/2025</a:t>
            </a:r>
            <a:endParaRPr i="1" sz="900">
              <a:solidFill>
                <a:srgbClr val="394349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grpSp>
        <p:nvGrpSpPr>
          <p:cNvPr id="89" name="Google Shape;89;p13"/>
          <p:cNvGrpSpPr/>
          <p:nvPr/>
        </p:nvGrpSpPr>
        <p:grpSpPr>
          <a:xfrm>
            <a:off x="351423" y="2631063"/>
            <a:ext cx="4340927" cy="2296288"/>
            <a:chOff x="348461" y="2785213"/>
            <a:chExt cx="4340927" cy="2296288"/>
          </a:xfrm>
        </p:grpSpPr>
        <p:grpSp>
          <p:nvGrpSpPr>
            <p:cNvPr id="90" name="Google Shape;90;p13"/>
            <p:cNvGrpSpPr/>
            <p:nvPr/>
          </p:nvGrpSpPr>
          <p:grpSpPr>
            <a:xfrm>
              <a:off x="348461" y="2785213"/>
              <a:ext cx="4332102" cy="299238"/>
              <a:chOff x="348461" y="2785213"/>
              <a:chExt cx="4332102" cy="299238"/>
            </a:xfrm>
          </p:grpSpPr>
          <p:sp>
            <p:nvSpPr>
              <p:cNvPr id="91" name="Google Shape;91;p13"/>
              <p:cNvSpPr txBox="1"/>
              <p:nvPr/>
            </p:nvSpPr>
            <p:spPr>
              <a:xfrm>
                <a:off x="348461" y="2785213"/>
                <a:ext cx="2917500" cy="2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uk" sz="1300">
                    <a:solidFill>
                      <a:srgbClr val="394349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PROFESSIONAL EXPERIENCE</a:t>
                </a:r>
                <a:endParaRPr sz="1300">
                  <a:solidFill>
                    <a:srgbClr val="394349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</p:txBody>
          </p:sp>
          <p:cxnSp>
            <p:nvCxnSpPr>
              <p:cNvPr id="92" name="Google Shape;92;p13"/>
              <p:cNvCxnSpPr/>
              <p:nvPr/>
            </p:nvCxnSpPr>
            <p:spPr>
              <a:xfrm>
                <a:off x="357263" y="3084450"/>
                <a:ext cx="43233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7798A7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93" name="Google Shape;93;p13"/>
            <p:cNvGrpSpPr/>
            <p:nvPr/>
          </p:nvGrpSpPr>
          <p:grpSpPr>
            <a:xfrm>
              <a:off x="348462" y="3173225"/>
              <a:ext cx="4340925" cy="1908275"/>
              <a:chOff x="348462" y="3173225"/>
              <a:chExt cx="4340925" cy="1908275"/>
            </a:xfrm>
          </p:grpSpPr>
          <p:grpSp>
            <p:nvGrpSpPr>
              <p:cNvPr id="94" name="Google Shape;94;p13"/>
              <p:cNvGrpSpPr/>
              <p:nvPr/>
            </p:nvGrpSpPr>
            <p:grpSpPr>
              <a:xfrm>
                <a:off x="348462" y="3192920"/>
                <a:ext cx="2550825" cy="301688"/>
                <a:chOff x="348462" y="3192920"/>
                <a:chExt cx="2550825" cy="301688"/>
              </a:xfrm>
            </p:grpSpPr>
            <p:sp>
              <p:nvSpPr>
                <p:cNvPr id="95" name="Google Shape;95;p13"/>
                <p:cNvSpPr txBox="1"/>
                <p:nvPr/>
              </p:nvSpPr>
              <p:spPr>
                <a:xfrm>
                  <a:off x="348462" y="3192920"/>
                  <a:ext cx="2544900" cy="13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i="1" lang="uk" sz="900">
                      <a:solidFill>
                        <a:srgbClr val="7798A7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Freelance Developer</a:t>
                  </a:r>
                  <a:endParaRPr i="1" sz="900">
                    <a:solidFill>
                      <a:srgbClr val="7798A7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  <p:sp>
              <p:nvSpPr>
                <p:cNvPr id="96" name="Google Shape;96;p13"/>
                <p:cNvSpPr txBox="1"/>
                <p:nvPr/>
              </p:nvSpPr>
              <p:spPr>
                <a:xfrm>
                  <a:off x="354387" y="3356008"/>
                  <a:ext cx="2544900" cy="13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00">
                    <a:solidFill>
                      <a:srgbClr val="394349"/>
                    </a:solidFill>
                    <a:latin typeface="Poppins Light"/>
                    <a:ea typeface="Poppins Light"/>
                    <a:cs typeface="Poppins Light"/>
                    <a:sym typeface="Poppins Light"/>
                  </a:endParaRPr>
                </a:p>
              </p:txBody>
            </p:sp>
          </p:grpSp>
          <p:sp>
            <p:nvSpPr>
              <p:cNvPr id="97" name="Google Shape;97;p13"/>
              <p:cNvSpPr txBox="1"/>
              <p:nvPr/>
            </p:nvSpPr>
            <p:spPr>
              <a:xfrm>
                <a:off x="2469988" y="3173225"/>
                <a:ext cx="2219400" cy="13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uk" sz="900">
                    <a:solidFill>
                      <a:srgbClr val="394349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Bangi, Malaysia | 06/2025 - Present</a:t>
                </a:r>
                <a:endParaRPr i="1" sz="900">
                  <a:solidFill>
                    <a:srgbClr val="394349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</p:txBody>
          </p:sp>
          <p:sp>
            <p:nvSpPr>
              <p:cNvPr id="98" name="Google Shape;98;p13"/>
              <p:cNvSpPr txBox="1"/>
              <p:nvPr/>
            </p:nvSpPr>
            <p:spPr>
              <a:xfrm>
                <a:off x="457763" y="3400600"/>
                <a:ext cx="4119300" cy="168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-140800" lvl="0" marL="90000" rtl="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94349"/>
                  </a:buClr>
                  <a:buSzPts val="800"/>
                  <a:buFont typeface="Poppins Light"/>
                  <a:buChar char="●"/>
                </a:pPr>
                <a:r>
                  <a:rPr b="1" lang="uk" sz="800">
                    <a:solidFill>
                      <a:srgbClr val="394349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Leveraged Agentic coding frameworks</a:t>
                </a:r>
                <a:r>
                  <a:rPr lang="uk" sz="800">
                    <a:solidFill>
                      <a:srgbClr val="394349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 to streamline the software development life cycle (SDLC), utilizing autonomous agents for debugging, documentation, and initial prototyping.</a:t>
                </a:r>
                <a:endParaRPr sz="800">
                  <a:solidFill>
                    <a:srgbClr val="394349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  <a:p>
                <a:pPr indent="-140800" lvl="0" marL="90000" rtl="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94349"/>
                  </a:buClr>
                  <a:buSzPts val="800"/>
                  <a:buFont typeface="Poppins Light"/>
                  <a:buChar char="●"/>
                </a:pPr>
                <a:r>
                  <a:rPr b="1" lang="uk" sz="800">
                    <a:solidFill>
                      <a:srgbClr val="394349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Evaluated and integrated emerging AI architectures</a:t>
                </a:r>
                <a:r>
                  <a:rPr lang="uk" sz="800">
                    <a:solidFill>
                      <a:srgbClr val="394349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, including RAG (Retrieval-Augmented Generation) and Agentic reasoning loops, to build smarter, more intuitive applications for diverse clients.</a:t>
                </a:r>
                <a:endParaRPr sz="800">
                  <a:solidFill>
                    <a:srgbClr val="394349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  <a:p>
                <a:pPr indent="-140800" lvl="0" marL="90000" rtl="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94349"/>
                  </a:buClr>
                  <a:buSzPts val="800"/>
                  <a:buFont typeface="Poppins Light"/>
                  <a:buChar char="●"/>
                </a:pPr>
                <a:r>
                  <a:rPr b="1" lang="uk" sz="800">
                    <a:solidFill>
                      <a:srgbClr val="394349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Conducted continuous technical research</a:t>
                </a:r>
                <a:r>
                  <a:rPr lang="uk" sz="800">
                    <a:solidFill>
                      <a:srgbClr val="394349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 into Transformer models and fine-tuning techniques to ensure client projects utilized the most cost-effective and performant models available.</a:t>
                </a:r>
                <a:endParaRPr sz="800">
                  <a:solidFill>
                    <a:srgbClr val="394349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  <a:p>
                <a:pPr indent="-140800" lvl="0" marL="90000" rtl="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94349"/>
                  </a:buClr>
                  <a:buSzPts val="800"/>
                  <a:buFont typeface="Poppins Light"/>
                  <a:buChar char="●"/>
                </a:pPr>
                <a:r>
                  <a:rPr b="1" lang="uk" sz="800">
                    <a:solidFill>
                      <a:srgbClr val="394349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Engineered and maintained Linux-based server environments</a:t>
                </a:r>
                <a:r>
                  <a:rPr lang="uk" sz="800">
                    <a:solidFill>
                      <a:srgbClr val="394349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 using Docker for service isolation and custom Bash automation to streamline the deployment of AI-integrated application</a:t>
                </a:r>
                <a:endParaRPr sz="800">
                  <a:solidFill>
                    <a:srgbClr val="394349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</p:txBody>
          </p:sp>
        </p:grpSp>
      </p:grpSp>
      <p:grpSp>
        <p:nvGrpSpPr>
          <p:cNvPr id="99" name="Google Shape;99;p13"/>
          <p:cNvGrpSpPr/>
          <p:nvPr/>
        </p:nvGrpSpPr>
        <p:grpSpPr>
          <a:xfrm>
            <a:off x="352887" y="8042445"/>
            <a:ext cx="2544900" cy="321375"/>
            <a:chOff x="354375" y="3371133"/>
            <a:chExt cx="2544900" cy="321375"/>
          </a:xfrm>
        </p:grpSpPr>
        <p:sp>
          <p:nvSpPr>
            <p:cNvPr id="100" name="Google Shape;100;p13"/>
            <p:cNvSpPr txBox="1"/>
            <p:nvPr/>
          </p:nvSpPr>
          <p:spPr>
            <a:xfrm>
              <a:off x="354375" y="3371133"/>
              <a:ext cx="2544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rgbClr val="7798A7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IT Applications Intern</a:t>
              </a:r>
              <a:endParaRPr sz="900">
                <a:solidFill>
                  <a:srgbClr val="7798A7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01" name="Google Shape;101;p13"/>
            <p:cNvSpPr txBox="1"/>
            <p:nvPr/>
          </p:nvSpPr>
          <p:spPr>
            <a:xfrm>
              <a:off x="354375" y="3553908"/>
              <a:ext cx="2544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uk" sz="900">
                  <a:solidFill>
                    <a:srgbClr val="394349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Edwards Lifesciences APAC</a:t>
              </a:r>
              <a:endParaRPr i="1" sz="900">
                <a:solidFill>
                  <a:srgbClr val="394349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sp>
        <p:nvSpPr>
          <p:cNvPr id="102" name="Google Shape;102;p13"/>
          <p:cNvSpPr txBox="1"/>
          <p:nvPr/>
        </p:nvSpPr>
        <p:spPr>
          <a:xfrm>
            <a:off x="462200" y="8482100"/>
            <a:ext cx="41193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40800" lvl="0" marL="9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94349"/>
              </a:buClr>
              <a:buSzPts val="800"/>
              <a:buFont typeface="Poppins Light"/>
              <a:buChar char="●"/>
            </a:pPr>
            <a:r>
              <a:rPr b="1" lang="uk" sz="800">
                <a:solidFill>
                  <a:srgbClr val="394349"/>
                </a:solidFill>
                <a:latin typeface="Poppins"/>
                <a:ea typeface="Poppins"/>
                <a:cs typeface="Poppins"/>
                <a:sym typeface="Poppins"/>
              </a:rPr>
              <a:t>JDE &amp; Android Integration:</a:t>
            </a:r>
            <a:r>
              <a:rPr lang="uk" sz="800">
                <a:solidFill>
                  <a:srgbClr val="394349"/>
                </a:solidFill>
                <a:latin typeface="Poppins Light"/>
                <a:ea typeface="Poppins Light"/>
                <a:cs typeface="Poppins Light"/>
                <a:sym typeface="Poppins Light"/>
              </a:rPr>
              <a:t> Developed and maintained global EnterpriseOne (JDE) systems and mobile applications, ensuring seamless data flow across the enterprise.</a:t>
            </a:r>
            <a:endParaRPr sz="800">
              <a:solidFill>
                <a:srgbClr val="394349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40800" lvl="0" marL="9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94349"/>
              </a:buClr>
              <a:buSzPts val="800"/>
              <a:buFont typeface="Poppins Light"/>
              <a:buChar char="●"/>
            </a:pPr>
            <a:r>
              <a:rPr b="1" lang="uk" sz="800">
                <a:solidFill>
                  <a:srgbClr val="394349"/>
                </a:solidFill>
                <a:latin typeface="Poppins"/>
                <a:ea typeface="Poppins"/>
                <a:cs typeface="Poppins"/>
                <a:sym typeface="Poppins"/>
              </a:rPr>
              <a:t>Legacy Migration:</a:t>
            </a:r>
            <a:r>
              <a:rPr lang="uk" sz="800">
                <a:solidFill>
                  <a:srgbClr val="394349"/>
                </a:solidFill>
                <a:latin typeface="Poppins Light"/>
                <a:ea typeface="Poppins Light"/>
                <a:cs typeface="Poppins Light"/>
                <a:sym typeface="Poppins Light"/>
              </a:rPr>
              <a:t> Successfully migrated unsupported MAF applications to Native Android, leveraging </a:t>
            </a:r>
            <a:r>
              <a:rPr b="1" lang="uk" sz="800">
                <a:solidFill>
                  <a:srgbClr val="394349"/>
                </a:solidFill>
                <a:latin typeface="Poppins"/>
                <a:ea typeface="Poppins"/>
                <a:cs typeface="Poppins"/>
                <a:sym typeface="Poppins"/>
              </a:rPr>
              <a:t>MVP architecture</a:t>
            </a:r>
            <a:r>
              <a:rPr lang="uk" sz="800">
                <a:solidFill>
                  <a:srgbClr val="394349"/>
                </a:solidFill>
                <a:latin typeface="Poppins Light"/>
                <a:ea typeface="Poppins Light"/>
                <a:cs typeface="Poppins Light"/>
                <a:sym typeface="Poppins Light"/>
              </a:rPr>
              <a:t> and </a:t>
            </a:r>
            <a:r>
              <a:rPr b="1" lang="uk" sz="800">
                <a:solidFill>
                  <a:srgbClr val="394349"/>
                </a:solidFill>
                <a:latin typeface="Poppins"/>
                <a:ea typeface="Poppins"/>
                <a:cs typeface="Poppins"/>
                <a:sym typeface="Poppins"/>
              </a:rPr>
              <a:t>REST APIs</a:t>
            </a:r>
            <a:r>
              <a:rPr lang="uk" sz="800">
                <a:solidFill>
                  <a:srgbClr val="394349"/>
                </a:solidFill>
                <a:latin typeface="Poppins Light"/>
                <a:ea typeface="Poppins Light"/>
                <a:cs typeface="Poppins Light"/>
                <a:sym typeface="Poppins Light"/>
              </a:rPr>
              <a:t> for modern performance standards.</a:t>
            </a:r>
            <a:endParaRPr sz="800">
              <a:solidFill>
                <a:srgbClr val="394349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40800" lvl="0" marL="9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94349"/>
              </a:buClr>
              <a:buSzPts val="800"/>
              <a:buFont typeface="Poppins Light"/>
              <a:buChar char="●"/>
            </a:pPr>
            <a:r>
              <a:rPr b="1" lang="uk" sz="800">
                <a:solidFill>
                  <a:srgbClr val="394349"/>
                </a:solidFill>
                <a:latin typeface="Poppins"/>
                <a:ea typeface="Poppins"/>
                <a:cs typeface="Poppins"/>
                <a:sym typeface="Poppins"/>
              </a:rPr>
              <a:t>Global Support:</a:t>
            </a:r>
            <a:r>
              <a:rPr lang="uk" sz="800">
                <a:solidFill>
                  <a:srgbClr val="394349"/>
                </a:solidFill>
                <a:latin typeface="Poppins Light"/>
                <a:ea typeface="Poppins Light"/>
                <a:cs typeface="Poppins Light"/>
                <a:sym typeface="Poppins Light"/>
              </a:rPr>
              <a:t> Resolved complex, real-world JDE tickets, deploying technical fixes and features to a worldwide production environment.</a:t>
            </a:r>
            <a:endParaRPr sz="800">
              <a:solidFill>
                <a:srgbClr val="394349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40800" lvl="0" marL="9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94349"/>
              </a:buClr>
              <a:buSzPts val="800"/>
              <a:buFont typeface="Poppins Light"/>
              <a:buChar char="●"/>
            </a:pPr>
            <a:r>
              <a:rPr b="1" lang="uk" sz="800">
                <a:solidFill>
                  <a:srgbClr val="394349"/>
                </a:solidFill>
                <a:latin typeface="Poppins"/>
                <a:ea typeface="Poppins"/>
                <a:cs typeface="Poppins"/>
                <a:sym typeface="Poppins"/>
              </a:rPr>
              <a:t>QA &amp; Project Management:</a:t>
            </a:r>
            <a:r>
              <a:rPr lang="uk" sz="800">
                <a:solidFill>
                  <a:srgbClr val="394349"/>
                </a:solidFill>
                <a:latin typeface="Poppins Light"/>
                <a:ea typeface="Poppins Light"/>
                <a:cs typeface="Poppins Light"/>
                <a:sym typeface="Poppins Light"/>
              </a:rPr>
              <a:t> Managed development tasks via Jira and executed comprehensive quality audits through TestRails to maintain enterprise-level standards.</a:t>
            </a:r>
            <a:endParaRPr sz="800">
              <a:solidFill>
                <a:srgbClr val="394349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2145963" y="8225221"/>
            <a:ext cx="2544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uk" sz="900">
                <a:solidFill>
                  <a:srgbClr val="394349"/>
                </a:solidFill>
                <a:latin typeface="Poppins Light"/>
                <a:ea typeface="Poppins Light"/>
                <a:cs typeface="Poppins Light"/>
                <a:sym typeface="Poppins Light"/>
              </a:rPr>
              <a:t>Kuala Lumpur, Malaysia | 09/2023 - 02/2024</a:t>
            </a:r>
            <a:endParaRPr i="1" sz="900">
              <a:solidFill>
                <a:srgbClr val="394349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grpSp>
        <p:nvGrpSpPr>
          <p:cNvPr id="104" name="Google Shape;104;p13"/>
          <p:cNvGrpSpPr/>
          <p:nvPr/>
        </p:nvGrpSpPr>
        <p:grpSpPr>
          <a:xfrm>
            <a:off x="5394790" y="5497456"/>
            <a:ext cx="1982863" cy="866887"/>
            <a:chOff x="5341790" y="2104513"/>
            <a:chExt cx="1982863" cy="866887"/>
          </a:xfrm>
        </p:grpSpPr>
        <p:sp>
          <p:nvSpPr>
            <p:cNvPr id="105" name="Google Shape;105;p13"/>
            <p:cNvSpPr txBox="1"/>
            <p:nvPr/>
          </p:nvSpPr>
          <p:spPr>
            <a:xfrm>
              <a:off x="5341790" y="2104513"/>
              <a:ext cx="19770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AI Specialization</a:t>
              </a:r>
              <a:endParaRPr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06" name="Google Shape;106;p13"/>
            <p:cNvSpPr txBox="1"/>
            <p:nvPr/>
          </p:nvSpPr>
          <p:spPr>
            <a:xfrm>
              <a:off x="5347653" y="2292500"/>
              <a:ext cx="1977000" cy="67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lt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• </a:t>
              </a:r>
              <a:r>
                <a:rPr lang="uk" sz="900">
                  <a:solidFill>
                    <a:schemeClr val="lt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LLM Deployment </a:t>
              </a:r>
              <a:r>
                <a:rPr lang="uk" sz="900">
                  <a:solidFill>
                    <a:schemeClr val="lt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•  </a:t>
              </a:r>
              <a:r>
                <a:rPr lang="uk" sz="900">
                  <a:solidFill>
                    <a:schemeClr val="lt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Prompt Engineering </a:t>
              </a:r>
              <a:r>
                <a:rPr lang="uk" sz="900">
                  <a:solidFill>
                    <a:schemeClr val="lt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•  Agentic Coding  • RAG •   ROS (Robot Operating System)</a:t>
              </a:r>
              <a:endParaRPr/>
            </a:p>
          </p:txBody>
        </p:sp>
      </p:grpSp>
      <p:sp>
        <p:nvSpPr>
          <p:cNvPr id="107" name="Google Shape;107;p13"/>
          <p:cNvSpPr txBox="1"/>
          <p:nvPr/>
        </p:nvSpPr>
        <p:spPr>
          <a:xfrm>
            <a:off x="5360453" y="7684918"/>
            <a:ext cx="1977000" cy="10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42875" lvl="0" marL="18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oppins Light"/>
              <a:buChar char="●"/>
            </a:pPr>
            <a:r>
              <a:rPr lang="uk" sz="9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Geopolitics &amp; Macroeconomics</a:t>
            </a:r>
            <a:endParaRPr sz="9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42875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oppins Light"/>
              <a:buChar char="●"/>
            </a:pPr>
            <a:r>
              <a:rPr lang="uk" sz="9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Emerging AI Architectures</a:t>
            </a:r>
            <a:endParaRPr sz="9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42875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oppins Light"/>
              <a:buChar char="●"/>
            </a:pPr>
            <a:r>
              <a:rPr lang="uk" sz="9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Self-Hosted Infrastructure</a:t>
            </a:r>
            <a:endParaRPr sz="9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42875" lvl="0" marL="18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oppins Light"/>
              <a:buChar char="●"/>
            </a:pPr>
            <a:r>
              <a:rPr lang="uk" sz="9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Modding/Reverse Engineering</a:t>
            </a:r>
            <a:endParaRPr sz="9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42875" lvl="0" marL="18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oppins Light"/>
              <a:buChar char="●"/>
            </a:pPr>
            <a:r>
              <a:rPr lang="uk" sz="9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Badminton</a:t>
            </a:r>
            <a:endParaRPr sz="9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42875" lvl="0" marL="18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oppins Light"/>
              <a:buChar char="●"/>
            </a:pPr>
            <a:r>
              <a:rPr lang="uk" sz="9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Pickle Ball</a:t>
            </a:r>
            <a:endParaRPr sz="9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142875" lvl="0" marL="18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oppins Light"/>
              <a:buChar char="●"/>
            </a:pPr>
            <a:r>
              <a:rPr lang="uk" sz="9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Gym </a:t>
            </a:r>
            <a:endParaRPr sz="9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